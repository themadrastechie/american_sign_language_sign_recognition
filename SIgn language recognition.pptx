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9" r:id="rId6"/>
    <p:sldId id="261" r:id="rId7"/>
    <p:sldId id="258" r:id="rId8"/>
    <p:sldId id="276" r:id="rId9"/>
    <p:sldId id="271" r:id="rId10"/>
    <p:sldId id="265" r:id="rId11"/>
    <p:sldId id="262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 autoAdjust="0"/>
    <p:restoredTop sz="94619" autoAdjust="0"/>
  </p:normalViewPr>
  <p:slideViewPr>
    <p:cSldViewPr snapToGrid="0">
      <p:cViewPr varScale="1">
        <p:scale>
          <a:sx n="159" d="100"/>
          <a:sy n="159" d="100"/>
        </p:scale>
        <p:origin x="75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 sign language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B9DAA57-D8FD-CA3B-21EC-8BB21EBBD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Sundar Balamurugan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6A77-165D-4226-BA2C-10D6E9B3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3FB6-7C9C-4ADA-BAD3-67E0DE2EB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84" y="2124262"/>
            <a:ext cx="10893631" cy="13047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is widely used by 250,000 to 500,000 people around the world [6].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very difficult for people to understand sign language if they are not familiar with 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help the people to recognize alphabets using hand gestures.</a:t>
            </a:r>
          </a:p>
        </p:txBody>
      </p:sp>
    </p:spTree>
    <p:extLst>
      <p:ext uri="{BB962C8B-B14F-4D97-AF65-F5344CB8AC3E}">
        <p14:creationId xmlns:p14="http://schemas.microsoft.com/office/powerpoint/2010/main" val="398735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E283-1D4A-4F69-A376-679DEB4F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70AD9-EC5E-4DC3-880E-01ECBBE4C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610808" cy="441852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required for the experimental study of the proposed algorithm has been created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source library.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tracking library has around 21 key features in hand and it is used to generate the dataset.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dataset contains all the 26 alphabets with hand gestures.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the hand gestures for 30 frames.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30 different permutations for each alphabet.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dataset is collected from four different humans.	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male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female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kid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total the dataset contains 93,600 values.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different parameters that are time, values(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hand joints.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90%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10%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Testing.</a:t>
            </a:r>
          </a:p>
        </p:txBody>
      </p:sp>
    </p:spTree>
    <p:extLst>
      <p:ext uri="{BB962C8B-B14F-4D97-AF65-F5344CB8AC3E}">
        <p14:creationId xmlns:p14="http://schemas.microsoft.com/office/powerpoint/2010/main" val="2343869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505F-7831-449B-98AA-33DF427D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 Alphabet hand gestures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Step 3 - Drawing hands in sign language poses - ms. a&amp;#39;s art classes">
            <a:extLst>
              <a:ext uri="{FF2B5EF4-FFF2-40B4-BE49-F238E27FC236}">
                <a16:creationId xmlns:a16="http://schemas.microsoft.com/office/drawing/2014/main" id="{EC208F9D-18DB-463C-9B2F-BB8B594F0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26"/>
          <a:stretch/>
        </p:blipFill>
        <p:spPr bwMode="auto">
          <a:xfrm>
            <a:off x="2238515" y="2064291"/>
            <a:ext cx="7714970" cy="428057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1028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3F8F-A2EC-4923-B363-D57DB8F9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Open source Library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BF3A1A-752C-48FF-9634-E4550F2C817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584" y="2788981"/>
            <a:ext cx="6245041" cy="217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1904-B9F6-496C-9DF3-2AF144381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345655" cy="3633047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opensource , high fidelity and finger tracking solution.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Palm detection model to get the hand bounding box.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hand landmark detection over the palm detector and returns high-fidelity 3D hand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the accurately cropped image of the hand.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image you can find the 21 different key points that can be tracked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15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CC38-A7AA-4417-ADE9-67DE07F1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from the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81A78-274F-4A83-A51C-54F7F1B104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97" t="14640" r="-515" b="43922"/>
          <a:stretch/>
        </p:blipFill>
        <p:spPr>
          <a:xfrm>
            <a:off x="405659" y="1955853"/>
            <a:ext cx="5295654" cy="1385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D26430-8F0C-4338-BA54-76F5738A76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29" t="15556" r="24633" b="54528"/>
          <a:stretch/>
        </p:blipFill>
        <p:spPr>
          <a:xfrm>
            <a:off x="405659" y="3429000"/>
            <a:ext cx="5295655" cy="1385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9AD696-FD16-418C-BF1A-6AD63F5786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955" t="14248" r="19706" b="53874"/>
          <a:stretch/>
        </p:blipFill>
        <p:spPr>
          <a:xfrm>
            <a:off x="405659" y="4966768"/>
            <a:ext cx="5355930" cy="1385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090D1-076F-4225-8BF6-F3996AE4CE9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35" t="52549" r="42111" b="15425"/>
          <a:stretch/>
        </p:blipFill>
        <p:spPr>
          <a:xfrm>
            <a:off x="5761589" y="2482089"/>
            <a:ext cx="6430411" cy="33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4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31E-EBFA-410D-90A4-FF8D6ECF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5F361-6EEE-4E93-B378-AFA43C99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1192" y="2244002"/>
            <a:ext cx="11234823" cy="401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2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723C0-20FA-463D-8456-13D17C2B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ED156B-54D4-4C84-8526-09D3C91D2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21" t="7091" r="54443" b="34528"/>
          <a:stretch/>
        </p:blipFill>
        <p:spPr bwMode="auto">
          <a:xfrm>
            <a:off x="497300" y="2072623"/>
            <a:ext cx="2209794" cy="1751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38A4EB-B990-4135-8E9B-F2C934714A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1" t="5455" r="54152" b="34866"/>
          <a:stretch/>
        </p:blipFill>
        <p:spPr bwMode="auto">
          <a:xfrm>
            <a:off x="2707094" y="2072623"/>
            <a:ext cx="2194560" cy="1751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20C8E1-D684-47D3-B6FF-7ED3BDF300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37" t="6009" r="54626" b="35794"/>
          <a:stretch/>
        </p:blipFill>
        <p:spPr bwMode="auto">
          <a:xfrm>
            <a:off x="4901654" y="2072623"/>
            <a:ext cx="2227304" cy="1751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C6B17-A8CA-4FD5-AE6D-B400486EDD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7651" b="40854"/>
          <a:stretch/>
        </p:blipFill>
        <p:spPr bwMode="auto">
          <a:xfrm>
            <a:off x="7111448" y="2072623"/>
            <a:ext cx="2229608" cy="1751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9B0E87-48F5-4343-B2B5-4AC525D85C9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8007" b="41170"/>
          <a:stretch/>
        </p:blipFill>
        <p:spPr bwMode="auto">
          <a:xfrm>
            <a:off x="9338752" y="2072623"/>
            <a:ext cx="2227304" cy="17548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BAA126-4737-4AF2-9201-56D9FCE543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8363" b="41170"/>
          <a:stretch/>
        </p:blipFill>
        <p:spPr bwMode="auto">
          <a:xfrm>
            <a:off x="482094" y="3823952"/>
            <a:ext cx="2225000" cy="17679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52444D-EC89-4381-BE15-470C836B10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8007" b="41803"/>
          <a:stretch/>
        </p:blipFill>
        <p:spPr bwMode="auto">
          <a:xfrm>
            <a:off x="2707094" y="3823951"/>
            <a:ext cx="2246620" cy="1751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144728-53E5-43FC-8833-37F79114C73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58541" b="40854"/>
          <a:stretch/>
        </p:blipFill>
        <p:spPr bwMode="auto">
          <a:xfrm>
            <a:off x="4813637" y="3791089"/>
            <a:ext cx="2285214" cy="18337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4FE169-0FA2-4AC4-A1D3-E1AAADBC3B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092" t="5693" r="54626" b="35477"/>
          <a:stretch/>
        </p:blipFill>
        <p:spPr bwMode="auto">
          <a:xfrm>
            <a:off x="7108421" y="3791089"/>
            <a:ext cx="2287556" cy="18337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DAC0D1-5930-439D-8F75-5A0A41F6FC7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008" t="7125" r="54961" b="35199"/>
          <a:stretch/>
        </p:blipFill>
        <p:spPr bwMode="auto">
          <a:xfrm>
            <a:off x="9338752" y="3827918"/>
            <a:ext cx="2272056" cy="17968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5853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17B8-10A6-2756-C9C5-92B5E6D3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Thank You Images – Browse 191,388 Stock Photos, Vectors, and Video | Adobe  Stock">
            <a:extLst>
              <a:ext uri="{FF2B5EF4-FFF2-40B4-BE49-F238E27FC236}">
                <a16:creationId xmlns:a16="http://schemas.microsoft.com/office/drawing/2014/main" id="{2A300F0A-E4D0-8E71-8650-AC5AD0527F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12" y="1072804"/>
            <a:ext cx="11762375" cy="500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75060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{12AC090A-0405-4BE8-B3C3-FFDC6CEB819A}tf33552983_win32</Template>
  <TotalTime>4716</TotalTime>
  <Words>271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Franklin Gothic Book</vt:lpstr>
      <vt:lpstr>Franklin Gothic Demi</vt:lpstr>
      <vt:lpstr>Times New Roman</vt:lpstr>
      <vt:lpstr>Wingdings 2</vt:lpstr>
      <vt:lpstr>DividendVTI</vt:lpstr>
      <vt:lpstr>American sign language RECOGNITIOn</vt:lpstr>
      <vt:lpstr>Motivation</vt:lpstr>
      <vt:lpstr>Dataset</vt:lpstr>
      <vt:lpstr>American Alphabet hand gestures </vt:lpstr>
      <vt:lpstr>Mediapipe- Open source Library</vt:lpstr>
      <vt:lpstr>Images from the dataset</vt:lpstr>
      <vt:lpstr>Architecture</vt:lpstr>
      <vt:lpstr>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Sundar Balamurugan</dc:creator>
  <cp:lastModifiedBy>Sundar Balamurugan</cp:lastModifiedBy>
  <cp:revision>16</cp:revision>
  <dcterms:created xsi:type="dcterms:W3CDTF">2022-02-21T04:48:39Z</dcterms:created>
  <dcterms:modified xsi:type="dcterms:W3CDTF">2025-05-13T11:51:36Z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